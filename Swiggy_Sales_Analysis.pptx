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(INR)</c:v>
                </c:pt>
              </c:strCache>
            </c:strRef>
          </c:tx>
          <c:spPr>
            <a:solidFill>
              <a:srgbClr val="FF5722"/>
            </a:solidFill>
            <a:ln w="38100" cap="flat">
              <a:solidFill>
                <a:srgbClr val="FF57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5722"/>
              </a:solidFill>
              <a:ln w="9525" cap="flat">
                <a:solidFill>
                  <a:srgbClr val="FF57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6825186</c:v>
                </c:pt>
                <c:pt idx="1">
                  <c:v>6269106</c:v>
                </c:pt>
                <c:pt idx="2">
                  <c:v>6573530</c:v>
                </c:pt>
                <c:pt idx="3">
                  <c:v>6594515</c:v>
                </c:pt>
                <c:pt idx="4">
                  <c:v>6793558</c:v>
                </c:pt>
                <c:pt idx="5">
                  <c:v>6514183</c:v>
                </c:pt>
                <c:pt idx="6">
                  <c:v>6650966</c:v>
                </c:pt>
                <c:pt idx="7">
                  <c:v>6791462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0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0000"/>
          <c:min val="6000000"/>
        </c:scaling>
        <c:delete val="0"/>
        <c:axPos val="l"/>
        <c:majorGridlines>
          <c:spPr>
            <a:ln w="6350" cap="flat">
              <a:solidFill>
                <a:srgbClr val="EFE6E0"/>
              </a:solidFill>
              <a:prstDash val="solid"/>
              <a:round/>
            </a:ln>
          </c:spPr>
        </c:majorGridlines>
        <c:numFmt formatCode="0.0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0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00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01A16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01A16"/>
                </a:solidFill>
                <a:latin typeface="Arial"/>
              </a:rPr>
              <a:t>Top 6 States by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(INR)</c:v>
                </c:pt>
              </c:strCache>
            </c:strRef>
          </c:tx>
          <c:spPr>
            <a:solidFill>
              <a:srgbClr val="FF57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Karnataka</c:v>
                  </c:pt>
                  <c:pt idx="1">
                    <c:v>Uttar Pradesh</c:v>
                  </c:pt>
                  <c:pt idx="2">
                    <c:v>Telangana</c:v>
                  </c:pt>
                  <c:pt idx="3">
                    <c:v>Maharashtra</c:v>
                  </c:pt>
                  <c:pt idx="4">
                    <c:v>Delhi</c:v>
                  </c:pt>
                  <c:pt idx="5">
                    <c:v>Gujarat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5456798</c:v>
                </c:pt>
                <c:pt idx="1">
                  <c:v>3117360</c:v>
                </c:pt>
                <c:pt idx="2">
                  <c:v>3021712</c:v>
                </c:pt>
                <c:pt idx="3">
                  <c:v>3015573</c:v>
                </c:pt>
                <c:pt idx="4">
                  <c:v>2829181</c:v>
                </c:pt>
                <c:pt idx="5">
                  <c:v>2817836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E60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FE6E0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0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(INR)</c:v>
                </c:pt>
              </c:strCache>
            </c:strRef>
          </c:tx>
          <c:spPr>
            <a:solidFill>
              <a:srgbClr val="FF57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KFC</c:v>
                  </c:pt>
                  <c:pt idx="1">
                    <c:v>McDonald's</c:v>
                  </c:pt>
                  <c:pt idx="2">
                    <c:v>Pizza Hut</c:v>
                  </c:pt>
                  <c:pt idx="3">
                    <c:v>Burger King</c:v>
                  </c:pt>
                  <c:pt idx="4">
                    <c:v>Domino's</c:v>
                  </c:pt>
                  <c:pt idx="5">
                    <c:v>Olio Pizzeria</c:v>
                  </c:pt>
                  <c:pt idx="6">
                    <c:v>LunchBox</c:v>
                  </c:pt>
                  <c:pt idx="7">
                    <c:v>Baskin Robbins</c:v>
                  </c:pt>
                  <c:pt idx="8">
                    <c:v>Faasos</c:v>
                  </c:pt>
                  <c:pt idx="9">
                    <c:v>The Good Bowl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4246952</c:v>
                </c:pt>
                <c:pt idx="1">
                  <c:v>3343095</c:v>
                </c:pt>
                <c:pt idx="2">
                  <c:v>2133266</c:v>
                </c:pt>
                <c:pt idx="3">
                  <c:v>1900817</c:v>
                </c:pt>
                <c:pt idx="4">
                  <c:v>1834022</c:v>
                </c:pt>
                <c:pt idx="5">
                  <c:v>1236369</c:v>
                </c:pt>
                <c:pt idx="6">
                  <c:v>1101141</c:v>
                </c:pt>
                <c:pt idx="7">
                  <c:v>860592</c:v>
                </c:pt>
                <c:pt idx="8">
                  <c:v>780215</c:v>
                </c:pt>
                <c:pt idx="9">
                  <c:v>673343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0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FE6E0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0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Orders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1.5–2.5</c:v>
                  </c:pt>
                  <c:pt idx="1">
                    <c:v>2.5–3.0</c:v>
                  </c:pt>
                  <c:pt idx="2">
                    <c:v>3.0–3.5</c:v>
                  </c:pt>
                  <c:pt idx="3">
                    <c:v>3.5–4.0</c:v>
                  </c:pt>
                  <c:pt idx="4">
                    <c:v>4.0–4.5</c:v>
                  </c:pt>
                  <c:pt idx="5">
                    <c:v>4.5–5.0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1302</c:v>
                </c:pt>
                <c:pt idx="1">
                  <c:v>2136</c:v>
                </c:pt>
                <c:pt idx="2">
                  <c:v>5056</c:v>
                </c:pt>
                <c:pt idx="3">
                  <c:v>14594</c:v>
                </c:pt>
                <c:pt idx="4">
                  <c:v>120536</c:v>
                </c:pt>
                <c:pt idx="5">
                  <c:v>53806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0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FE6E0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0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3D2B1F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-914400"/>
            <a:ext cx="3566160" cy="3566160"/>
          </a:xfrm>
          <a:prstGeom prst="ellipse">
            <a:avLst/>
          </a:prstGeom>
          <a:solidFill>
            <a:srgbClr val="241A14"/>
          </a:solidFill>
          <a:ln w="15875">
            <a:solidFill>
              <a:srgbClr val="FF57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35640" y="-228600"/>
            <a:ext cx="2194560" cy="2194560"/>
          </a:xfrm>
          <a:prstGeom prst="ellipse">
            <a:avLst/>
          </a:prstGeom>
          <a:ln w="9525">
            <a:solidFill>
              <a:srgbClr val="FF5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1945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Swiggy Sales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Revenue Trends &amp; Customer Behavior in Food Delivery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" y="3931920"/>
            <a:ext cx="1463040" cy="0"/>
          </a:xfrm>
          <a:prstGeom prst="line">
            <a:avLst/>
          </a:prstGeom>
          <a:noFill/>
          <a:ln w="31750">
            <a:solidFill>
              <a:srgbClr val="FF57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251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197K+</a:t>
            </a:r>
            <a:endParaRPr lang="en-US" sz="2100" dirty="0"/>
          </a:p>
          <a:p>
            <a:pPr indent="0" marL="0">
              <a:buNone/>
            </a:pPr>
            <a:r>
              <a:rPr lang="en-US" sz="115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108960" y="4251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₹5.3 Cr+</a:t>
            </a:r>
            <a:endParaRPr lang="en-US" sz="2100" dirty="0"/>
          </a:p>
          <a:p>
            <a:pPr indent="0" marL="0">
              <a:buNone/>
            </a:pPr>
            <a:r>
              <a:rPr lang="en-US" sz="115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486400" y="4251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4.34 ★</a:t>
            </a:r>
            <a:endParaRPr lang="en-US" sz="2100" dirty="0"/>
          </a:p>
          <a:p>
            <a:pPr indent="0" marL="0">
              <a:buNone/>
            </a:pPr>
            <a:r>
              <a:rPr lang="en-US" sz="115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863840" y="4251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100" dirty="0"/>
          </a:p>
          <a:p>
            <a:pPr indent="0" marL="0">
              <a:buNone/>
            </a:pPr>
            <a:r>
              <a:rPr lang="en-US" sz="115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visualizations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Tiwari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62910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NumPy  ·  Matplotlib  ·  Seaborn  ·  Plotly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Orders Into Insight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on a food delivery platform carries a story — when people order, what they order, and how happy they are with it. This project explores 8 months of Swiggy transaction data to uncover patterns in revenue, geography, and customer satisfaction that can guide real operational and marketing decisions.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46304" cy="146304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9535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revenue concentrated?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states, cities and restaurants drive the bulk of sales.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146304" cy="146304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8221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customers order most?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114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weekly and monthly demand patterns for better planning.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146304" cy="146304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6908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satisfied are customers?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9834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ratings reveal about food quality and service experience.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0" y="1417320"/>
            <a:ext cx="4297680" cy="4754880"/>
          </a:xfrm>
          <a:prstGeom prst="roundRect">
            <a:avLst>
              <a:gd name="adj" fmla="val 2553"/>
            </a:avLst>
          </a:prstGeom>
          <a:solidFill>
            <a:srgbClr val="241A1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197,430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68096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(Jan–Aug 2025)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680960" y="31821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7680960" y="36393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 per order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80960" y="42153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₹268.5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680960" y="46725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680960" y="52486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₹5.30 Cr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7680960" y="57058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Sales Analysis  •  EDA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Stays Resilient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(₹) by month, Jan–Aug 2025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818120" y="1417320"/>
            <a:ext cx="3840480" cy="4846320"/>
          </a:xfrm>
          <a:prstGeom prst="roundRect">
            <a:avLst>
              <a:gd name="adj" fmla="val 2857"/>
            </a:avLst>
          </a:prstGeom>
          <a:solidFill>
            <a:srgbClr val="241A1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3816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38160" y="2011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demand, no major drop-offs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138160" y="28803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stays within a tight ₹6.27–6.83 Cr band every month — demand is consistent rather than spiky, with a mild peak in January and July–August.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138160" y="4206240"/>
            <a:ext cx="3200400" cy="0"/>
          </a:xfrm>
          <a:prstGeom prst="line">
            <a:avLst/>
          </a:prstGeom>
          <a:noFill/>
          <a:ln w="12700">
            <a:solidFill>
              <a:srgbClr val="3D2B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0" y="44348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monthly demand allows confident inventory and staffing forecasts without large seasonal buffers.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Sales Analysis  •  EDA Project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Weekends Drive the Peaks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77840" cy="2993763"/>
          </a:xfrm>
          <a:prstGeom prst="roundRect">
            <a:avLst>
              <a:gd name="adj" fmla="val 3054"/>
            </a:avLst>
          </a:prstGeom>
          <a:solidFill>
            <a:srgbClr val="FFFFFF"/>
          </a:solidFill>
          <a:ln w="12700">
            <a:solidFill>
              <a:srgbClr val="EFE6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ages/daily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5212080" cy="25822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502523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by day of week (Mon–Sun)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2920" y="507492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FF1E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166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₹7.78M</a:t>
            </a:r>
            <a:endParaRPr lang="en-US" sz="2200" dirty="0"/>
          </a:p>
          <a:p>
            <a:pPr indent="0" marL="0">
              <a:buNone/>
            </a:pPr>
            <a:r>
              <a:rPr lang="en-US" sz="105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— peak day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246120" y="507492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3F0EC"/>
          </a:solidFill>
          <a:ln/>
        </p:spPr>
      </p:sp>
      <p:sp>
        <p:nvSpPr>
          <p:cNvPr id="10" name="Text 7"/>
          <p:cNvSpPr/>
          <p:nvPr/>
        </p:nvSpPr>
        <p:spPr>
          <a:xfrm>
            <a:off x="3429000" y="5166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₹7.35M</a:t>
            </a:r>
            <a:endParaRPr lang="en-US" sz="2200" dirty="0"/>
          </a:p>
          <a:p>
            <a:pPr indent="0" marL="0">
              <a:buNone/>
            </a:pPr>
            <a:r>
              <a:rPr lang="en-US" sz="105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— lowest day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00800" y="1554480"/>
            <a:ext cx="5212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revenue fluctuates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35 weeks of data, revenue consistently lands near ₹1.5M per week, with select weeks outperforming others — a sign of promotional or seasonal effects.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lead, but not by a wide margin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revenue tops the week while Tuesday lags — demand is fairly stable day-to-day, with only a modest weekend lift.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strategies from high-performing weeks; use Tuesdays for promotions to balance demand across the week.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Sales Analysis  •  EDA Project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Karnataka Leads, Metros Dominate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00600"/>
            <a:ext cx="5760720" cy="2135406"/>
          </a:xfrm>
          <a:prstGeom prst="roundRect">
            <a:avLst>
              <a:gd name="adj" fmla="val 4282"/>
            </a:avLst>
          </a:prstGeom>
          <a:solidFill>
            <a:srgbClr val="FFFFFF"/>
          </a:solidFill>
          <a:ln w="12700">
            <a:solidFill>
              <a:srgbClr val="EFE6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ages/top_cities_reven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937760"/>
            <a:ext cx="5486400" cy="18153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46520" y="1554480"/>
            <a:ext cx="5166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 clear regional concentration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alone generates ~₹5.46 Cr — nearly 75% more than the next-highest state, Uttar Pradesh, followed closely by Telangana and Maharashtra.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Cities: metro dominance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cities by revenue are almost entirely Tier-1 metros — confirming where current demand, and growth, is centered.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marketing and restaurant partnerships in top states/cities, while testing expansion plays in mid-tier markets.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Sales Analysis  •  EDA Project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 Brands Drive the Bulk of Sales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150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restaurants by total revenue (₹)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Sales Analysis  •  EDA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Skew Strongly Positive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customer ratings across 197,430 orders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818120" y="1417320"/>
            <a:ext cx="3840480" cy="4846320"/>
          </a:xfrm>
          <a:prstGeom prst="roundRect">
            <a:avLst>
              <a:gd name="adj" fmla="val 2857"/>
            </a:avLst>
          </a:prstGeom>
          <a:solidFill>
            <a:srgbClr val="241A1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3816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3816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4.34 / 5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138160" y="2926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of all orders are rated 4.0 or higher, with very low variance — a strong, consistent satisfaction baseline.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138160" y="3977640"/>
            <a:ext cx="3200400" cy="0"/>
          </a:xfrm>
          <a:prstGeom prst="line">
            <a:avLst/>
          </a:prstGeom>
          <a:noFill/>
          <a:ln w="12700">
            <a:solidFill>
              <a:srgbClr val="3D2B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0" y="42062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ratings are a trust signal worth featuring in marketing; low-rated outliers flag where service recovery is needed.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Sales Analysis  •  EDA Project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Doesn't Buy Better Ratings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75120" y="1554480"/>
            <a:ext cx="4572000" cy="3630952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12700">
            <a:solidFill>
              <a:srgbClr val="EFE6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ages/cor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737360"/>
            <a:ext cx="4206240" cy="3219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75120" y="5231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Price, Rating &amp; Rating Count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5669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price–rating correlation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(INR) and Rating show only a weak relationship — paying more doesn't reliably translate into a better-rated experience.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over cost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appear to value taste and service consistency more than the price point itself when rating their order.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in food quality and delivery experience will move ratings more than pricing strategy alone.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Sales Analysis  •  EDA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3D2B1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Orders to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Business Strategy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197K+ Swiggy orders across 8 months to map revenue patterns by time, geography and restaurant. Demand is steady through the week with a mild weekend lift, Karnataka and metro cities lead revenue, and customer satisfaction stays high (4.34★) regardless of price — insights that directly inform marketing, staffing and partnership decisions.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1938528" cy="384048"/>
          </a:xfrm>
          <a:prstGeom prst="roundRect">
            <a:avLst>
              <a:gd name="adj" fmla="val 50000"/>
            </a:avLst>
          </a:prstGeom>
          <a:solidFill>
            <a:srgbClr val="3D2B1F"/>
          </a:solidFill>
          <a:ln w="9525">
            <a:solidFill>
              <a:srgbClr val="FF5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43484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4434840"/>
            <a:ext cx="1938528" cy="384048"/>
          </a:xfrm>
          <a:prstGeom prst="roundRect">
            <a:avLst>
              <a:gd name="adj" fmla="val 50000"/>
            </a:avLst>
          </a:prstGeom>
          <a:solidFill>
            <a:srgbClr val="3D2B1F"/>
          </a:solidFill>
          <a:ln w="9525">
            <a:solidFill>
              <a:srgbClr val="FF57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443484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443484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3D2B1F"/>
          </a:solidFill>
          <a:ln w="9525">
            <a:solidFill>
              <a:srgbClr val="FF5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4434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3D2B1F"/>
          </a:solidFill>
          <a:ln w="9525">
            <a:solidFill>
              <a:srgbClr val="FF5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937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30752" y="4937760"/>
            <a:ext cx="2185416" cy="384048"/>
          </a:xfrm>
          <a:prstGeom prst="roundRect">
            <a:avLst>
              <a:gd name="adj" fmla="val 50000"/>
            </a:avLst>
          </a:prstGeom>
          <a:solidFill>
            <a:srgbClr val="3D2B1F"/>
          </a:solidFill>
          <a:ln w="9525">
            <a:solidFill>
              <a:srgbClr val="FF5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0752" y="493776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440680"/>
            <a:ext cx="1938528" cy="384048"/>
          </a:xfrm>
          <a:prstGeom prst="roundRect">
            <a:avLst>
              <a:gd name="adj" fmla="val 50000"/>
            </a:avLst>
          </a:prstGeom>
          <a:solidFill>
            <a:srgbClr val="3D2B1F"/>
          </a:solidFill>
          <a:ln w="9525">
            <a:solidFill>
              <a:srgbClr val="FF5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44068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128016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2E2118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1600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₹5.30 Cr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54964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analyzed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9640" y="25603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197,430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54964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processed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49640" y="3520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4.34 ★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549640" y="4023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rating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49640" y="44805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549640" y="4983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insights delivered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Tiwari  |  ayusharies1o@gmail.com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Sales Analysis - EDA</dc:title>
  <dc:subject>PptxGenJS Presentation</dc:subject>
  <dc:creator>Ayush Tiwari</dc:creator>
  <cp:lastModifiedBy>Ayush Tiwari</cp:lastModifiedBy>
  <cp:revision>1</cp:revision>
  <dcterms:created xsi:type="dcterms:W3CDTF">2026-06-19T18:23:29Z</dcterms:created>
  <dcterms:modified xsi:type="dcterms:W3CDTF">2026-06-19T18:23:29Z</dcterms:modified>
</cp:coreProperties>
</file>